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Employee Attrition Prediction using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4040" y="2190115"/>
            <a:ext cx="5081905" cy="18237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2200"/>
            </a:pPr>
            <a:r>
              <a:t>End-to-end ML project </a:t>
            </a:r>
          </a:p>
          <a:p>
            <a:pPr algn="l">
              <a:defRPr sz="2200"/>
            </a:pPr>
            <a:r>
              <a:rPr lang="en-US" altLang="en-US"/>
              <a:t>Technologies: Python | Scikit-learn | XGBoost | Streamlit.</a:t>
            </a:r>
          </a:p>
          <a:p>
            <a:pPr algn="l">
              <a:defRPr sz="2200"/>
            </a:pPr>
          </a:p>
          <a:p>
            <a:pPr algn="l">
              <a:defRPr sz="2200"/>
            </a:pPr>
          </a:p>
          <a:p>
            <a:pPr algn="l">
              <a:defRPr sz="2200"/>
            </a:pPr>
          </a:p>
          <a:p>
            <a:pPr algn="l">
              <a:defRPr sz="2200"/>
            </a:pPr>
            <a:r>
              <a:rPr lang="en-US"/>
              <a:t>                                                                                                              </a:t>
            </a:r>
            <a:endParaRPr lang="en-US"/>
          </a:p>
        </p:txBody>
      </p:sp>
      <p:sp>
        <p:nvSpPr>
          <p:cNvPr id="4" name="TextBox 2"/>
          <p:cNvSpPr txBox="1"/>
          <p:nvPr/>
        </p:nvSpPr>
        <p:spPr>
          <a:xfrm>
            <a:off x="6785610" y="4418330"/>
            <a:ext cx="5081905" cy="18237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2200"/>
            </a:pPr>
            <a:r>
              <a:rPr lang="en-US" altLang="en-US"/>
              <a:t>Prepared by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Keerthana GC</a:t>
            </a:r>
            <a:endParaRPr lang="en-US" altLang="en-US"/>
          </a:p>
          <a:p>
            <a:pPr algn="l">
              <a:defRPr sz="2200"/>
            </a:pPr>
          </a:p>
          <a:p>
            <a:pPr algn="l">
              <a:defRPr sz="2200"/>
            </a:pPr>
          </a:p>
          <a:p>
            <a:pPr algn="l">
              <a:defRPr sz="2200"/>
            </a:pPr>
            <a:r>
              <a:rPr lang="en-US"/>
              <a:t>                                                                                                             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Business Problem &amp; Objectives</a:t>
            </a:r>
            <a:endParaRPr lang="en-US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1339850"/>
            <a:ext cx="10972800" cy="48780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2200"/>
            </a:pPr>
            <a:r>
              <a:rPr lang="en-US" altLang="en-US"/>
              <a:t>Business Problem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High employee attrition increases recruitment and training costs.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Employee turnover impacts productivity and business performance.</a:t>
            </a:r>
            <a:endParaRPr lang="en-US" altLang="en-US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/>
              <a:t>Objectives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Predict employee attrition.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Identify key factors influencing attrition.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Help HR make proactive decisions.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58433"/>
            <a:ext cx="8229600" cy="1143000"/>
          </a:xfrm>
        </p:spPr>
        <p:txBody>
          <a:bodyPr/>
          <a:lstStyle/>
          <a:p>
            <a:r>
              <a:rPr lang="en-US" altLang="en-US"/>
              <a:t>Dataset Overview</a:t>
            </a:r>
            <a:endParaRPr lang="en-US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40030" y="1237615"/>
            <a:ext cx="11802110" cy="40779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2200"/>
            </a:pPr>
            <a:r>
              <a:rPr lang="en-US" altLang="en-US" b="1"/>
              <a:t>HR Employee Attrition Dataset</a:t>
            </a:r>
            <a:endParaRPr lang="en-US" altLang="en-US" b="1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/>
              <a:t>1470 Employee Records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35 Features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Target Variable: Attrition (Yes/No)</a:t>
            </a:r>
            <a:endParaRPr lang="en-US" altLang="en-US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 b="1"/>
              <a:t>Major Features</a:t>
            </a:r>
            <a:endParaRPr lang="en-US" altLang="en-US" b="1"/>
          </a:p>
          <a:p>
            <a:pPr algn="l">
              <a:defRPr sz="2200"/>
            </a:pPr>
            <a:endParaRPr lang="en-US" altLang="en-US" b="1"/>
          </a:p>
          <a:p>
            <a:pPr algn="l">
              <a:defRPr sz="2200"/>
            </a:pPr>
            <a:r>
              <a:rPr lang="en-US" altLang="en-US"/>
              <a:t>Age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Monthly Income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Job Role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Department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Job Satisfaction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OverTime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Years at Company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17"/>
            <a:ext cx="8229600" cy="1143000"/>
          </a:xfrm>
        </p:spPr>
        <p:txBody>
          <a:bodyPr/>
          <a:lstStyle/>
          <a:p>
            <a:r>
              <a:rPr lang="en-US" altLang="en-US"/>
              <a:t>Project Workflow</a:t>
            </a:r>
            <a:endParaRPr lang="en-US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2874645" cy="5943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2200"/>
            </a:pP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457200" y="1240790"/>
            <a:ext cx="4730115" cy="3124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baseline="-25000"/>
              <a:t>Dataset</a:t>
            </a:r>
            <a:endParaRPr lang="en-US" altLang="en-US" baseline="-25000"/>
          </a:p>
          <a:p>
            <a:r>
              <a:rPr lang="en-US" altLang="en-US" baseline="-25000"/>
              <a:t>   ↓</a:t>
            </a:r>
            <a:endParaRPr lang="en-US" altLang="en-US" baseline="-25000"/>
          </a:p>
          <a:p>
            <a:r>
              <a:rPr lang="en-US" altLang="en-US" baseline="-25000"/>
              <a:t>Data Cleaning</a:t>
            </a:r>
            <a:endParaRPr lang="en-US" altLang="en-US" baseline="-25000"/>
          </a:p>
          <a:p>
            <a:r>
              <a:rPr lang="en-US" altLang="en-US" baseline="-25000"/>
              <a:t>   ↓</a:t>
            </a:r>
            <a:endParaRPr lang="en-US" altLang="en-US" baseline="-25000"/>
          </a:p>
          <a:p>
            <a:r>
              <a:rPr lang="en-US" altLang="en-US" baseline="-25000"/>
              <a:t>EDA</a:t>
            </a:r>
            <a:endParaRPr lang="en-US" altLang="en-US" baseline="-25000"/>
          </a:p>
          <a:p>
            <a:r>
              <a:rPr lang="en-US" altLang="en-US" baseline="-25000"/>
              <a:t>   ↓</a:t>
            </a:r>
            <a:endParaRPr lang="en-US" altLang="en-US" baseline="-25000"/>
          </a:p>
          <a:p>
            <a:r>
              <a:rPr lang="en-US" altLang="en-US" baseline="-25000"/>
              <a:t>Feature Engineering</a:t>
            </a:r>
            <a:endParaRPr lang="en-US" altLang="en-US" baseline="-25000"/>
          </a:p>
          <a:p>
            <a:r>
              <a:rPr lang="en-US" altLang="en-US" baseline="-25000"/>
              <a:t>   ↓</a:t>
            </a:r>
            <a:endParaRPr lang="en-US" altLang="en-US" baseline="-25000"/>
          </a:p>
          <a:p>
            <a:r>
              <a:rPr lang="en-US" altLang="en-US" baseline="-25000"/>
              <a:t>Train-Test Split</a:t>
            </a:r>
            <a:endParaRPr lang="en-US" altLang="en-US" baseline="-25000"/>
          </a:p>
          <a:p>
            <a:r>
              <a:rPr lang="en-US" altLang="en-US" baseline="-25000"/>
              <a:t>   ↓</a:t>
            </a:r>
            <a:endParaRPr lang="en-US" altLang="en-US" baseline="-25000"/>
          </a:p>
          <a:p>
            <a:r>
              <a:rPr lang="en-US" altLang="en-US" baseline="-25000"/>
              <a:t>SMOTE</a:t>
            </a:r>
            <a:endParaRPr lang="en-US" altLang="en-US" baseline="-25000"/>
          </a:p>
          <a:p>
            <a:r>
              <a:rPr lang="en-US" altLang="en-US" baseline="-25000"/>
              <a:t>   ↓</a:t>
            </a:r>
            <a:endParaRPr lang="en-US" altLang="en-US" baseline="-25000"/>
          </a:p>
          <a:p>
            <a:r>
              <a:rPr lang="en-US" altLang="en-US" baseline="-25000"/>
              <a:t>Model Building</a:t>
            </a:r>
            <a:endParaRPr lang="en-US" altLang="en-US" baseline="-25000"/>
          </a:p>
          <a:p>
            <a:r>
              <a:rPr lang="en-US" altLang="en-US" baseline="-25000"/>
              <a:t>   ↓</a:t>
            </a:r>
            <a:endParaRPr lang="en-US" altLang="en-US" baseline="-25000"/>
          </a:p>
          <a:p>
            <a:r>
              <a:rPr lang="en-US" altLang="en-US" baseline="-25000"/>
              <a:t>Hyperparameter Tuning</a:t>
            </a:r>
            <a:endParaRPr lang="en-US" altLang="en-US" baseline="-25000"/>
          </a:p>
          <a:p>
            <a:r>
              <a:rPr lang="en-US" altLang="en-US" baseline="-25000"/>
              <a:t>   ↓</a:t>
            </a:r>
            <a:endParaRPr lang="en-US" altLang="en-US" baseline="-25000"/>
          </a:p>
          <a:p>
            <a:r>
              <a:rPr lang="en-US" altLang="en-US" baseline="-25000"/>
              <a:t>Model Evaluation</a:t>
            </a:r>
            <a:endParaRPr lang="en-US" altLang="en-US" baseline="-25000"/>
          </a:p>
          <a:p>
            <a:r>
              <a:rPr lang="en-US" altLang="en-US" baseline="-25000"/>
              <a:t>   ↓</a:t>
            </a:r>
            <a:endParaRPr lang="en-US" altLang="en-US" baseline="-25000"/>
          </a:p>
          <a:p>
            <a:r>
              <a:rPr lang="en-US" altLang="en-US" baseline="-25000"/>
              <a:t>Best Model (XGBoost)</a:t>
            </a:r>
            <a:endParaRPr lang="en-US" altLang="en-US" baseline="-25000"/>
          </a:p>
          <a:p>
            <a:r>
              <a:rPr lang="en-US" altLang="en-US" baseline="-25000"/>
              <a:t>   ↓</a:t>
            </a:r>
            <a:endParaRPr lang="en-US" altLang="en-US" baseline="-25000"/>
          </a:p>
          <a:p>
            <a:r>
              <a:rPr lang="en-US" altLang="en-US" baseline="-25000"/>
              <a:t>Joblib</a:t>
            </a:r>
            <a:endParaRPr lang="en-US" altLang="en-US" baseline="-25000"/>
          </a:p>
          <a:p>
            <a:r>
              <a:rPr lang="en-US" altLang="en-US" baseline="-25000"/>
              <a:t>   ↓</a:t>
            </a:r>
            <a:endParaRPr lang="en-US" altLang="en-US" baseline="-25000"/>
          </a:p>
          <a:p>
            <a:r>
              <a:rPr lang="en-US" altLang="en-US" baseline="-25000"/>
              <a:t>Streamlit Dashboard</a:t>
            </a:r>
            <a:endParaRPr lang="en-US" baseline="-25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17"/>
            <a:ext cx="8229600" cy="1143000"/>
          </a:xfrm>
        </p:spPr>
        <p:txBody>
          <a:bodyPr/>
          <a:lstStyle/>
          <a:p>
            <a:r>
              <a:rPr lang="en-US" altLang="en-US"/>
              <a:t>Data Preprocessing</a:t>
            </a:r>
            <a:endParaRPr lang="en-US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3435985" cy="4831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rPr lang="en-US" altLang="en-US" b="1"/>
              <a:t>Techniques Used</a:t>
            </a:r>
            <a:endParaRPr lang="en-US" altLang="en-US" b="1"/>
          </a:p>
          <a:p>
            <a:pPr algn="l">
              <a:defRPr sz="2200"/>
            </a:pPr>
            <a:endParaRPr lang="en-US" altLang="en-US" b="1"/>
          </a:p>
          <a:p>
            <a:pPr algn="l">
              <a:defRPr sz="2200"/>
            </a:pPr>
            <a:r>
              <a:rPr lang="en-US" altLang="en-US"/>
              <a:t>Data Cleaning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One-Hot Encoding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StandardScaler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Train-Test Split (80:20)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SMOTE</a:t>
            </a:r>
            <a:endParaRPr lang="en-US" altLang="en-US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 b="1"/>
              <a:t>Why?</a:t>
            </a:r>
            <a:endParaRPr lang="en-US" altLang="en-US" b="1"/>
          </a:p>
          <a:p>
            <a:pPr algn="l">
              <a:defRPr sz="2200"/>
            </a:pPr>
            <a:endParaRPr lang="en-US" altLang="en-US" b="1"/>
          </a:p>
          <a:p>
            <a:pPr algn="l">
              <a:defRPr sz="2200"/>
            </a:pPr>
            <a:r>
              <a:rPr lang="en-US" altLang="en-US"/>
              <a:t>Prepare data for ML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Handle categorical variables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Balance the dataset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Improve model performance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-317"/>
            <a:ext cx="8229600" cy="1143000"/>
          </a:xfrm>
        </p:spPr>
        <p:txBody>
          <a:bodyPr/>
          <a:lstStyle/>
          <a:p>
            <a:r>
              <a:rPr lang="en-US" altLang="en-US"/>
              <a:t>Exploratory Data Analysis (EDA)</a:t>
            </a:r>
            <a:endParaRPr lang="en-US" altLang="en-US"/>
          </a:p>
        </p:txBody>
      </p:sp>
      <p:sp>
        <p:nvSpPr>
          <p:cNvPr id="3" name="TextBox 2"/>
          <p:cNvSpPr txBox="1"/>
          <p:nvPr/>
        </p:nvSpPr>
        <p:spPr>
          <a:xfrm>
            <a:off x="419735" y="1336675"/>
            <a:ext cx="10972800" cy="49847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2200"/>
            </a:pPr>
            <a:r>
              <a:rPr lang="en-US" altLang="en-US" b="1"/>
              <a:t>Key Insights</a:t>
            </a:r>
            <a:endParaRPr lang="en-US" altLang="en-US" b="1"/>
          </a:p>
          <a:p>
            <a:pPr algn="l">
              <a:defRPr sz="2200"/>
            </a:pPr>
            <a:r>
              <a:rPr lang="en-US" altLang="en-US"/>
              <a:t>Employees working overtime had higher attrition.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Lower job satisfaction increased attrition.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Lower income employees left more frequently.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Some departments showed higher turnover.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Feature Engineering</a:t>
            </a:r>
            <a:endParaRPr lang="en-US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1417955"/>
            <a:ext cx="10972800" cy="479996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2200"/>
            </a:pPr>
            <a:r>
              <a:rPr lang="en-US" altLang="en-US" b="1"/>
              <a:t>One-Hot Encoding</a:t>
            </a:r>
            <a:endParaRPr lang="en-US" altLang="en-US" b="1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/>
              <a:t>Categorical → Numerical</a:t>
            </a:r>
            <a:endParaRPr lang="en-US" altLang="en-US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 b="1"/>
              <a:t>StandardScaler</a:t>
            </a:r>
            <a:endParaRPr lang="en-US" altLang="en-US" b="1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/>
              <a:t>Normalizes numerical features.</a:t>
            </a:r>
            <a:endParaRPr lang="en-US" altLang="en-US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 b="1"/>
              <a:t>SMOTE</a:t>
            </a:r>
            <a:endParaRPr lang="en-US" altLang="en-US" b="1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/>
              <a:t>Balances minority class.</a:t>
            </a:r>
            <a:endParaRPr lang="en-US" altLang="en-US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 b="1"/>
              <a:t>Why?</a:t>
            </a:r>
            <a:endParaRPr lang="en-US" altLang="en-US" b="1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/>
              <a:t>Improves model learning and prediction.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0963"/>
            <a:ext cx="8229600" cy="1143000"/>
          </a:xfrm>
        </p:spPr>
        <p:txBody>
          <a:bodyPr/>
          <a:lstStyle/>
          <a:p>
            <a:r>
              <a:rPr lang="en-US" altLang="en-US"/>
              <a:t>Model Building</a:t>
            </a:r>
            <a:endParaRPr lang="en-US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3125470" cy="5169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/>
            </a:pPr>
            <a:r>
              <a:rPr lang="en-US" altLang="en-US" b="1"/>
              <a:t>Models Implemented</a:t>
            </a:r>
            <a:endParaRPr lang="en-US" altLang="en-US" b="1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/>
              <a:t>Logistic Regression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Decision Tree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Random Forest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Optimized Random Forest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XGBoost</a:t>
            </a:r>
            <a:endParaRPr lang="en-US" altLang="en-US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 b="1"/>
              <a:t>Evaluation Metrics</a:t>
            </a:r>
            <a:endParaRPr lang="en-US" altLang="en-US" b="1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/>
              <a:t>Accuracy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Precision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Recall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F1 Score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ROC-AUC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15" y="119698"/>
            <a:ext cx="8229600" cy="1143000"/>
          </a:xfrm>
        </p:spPr>
        <p:txBody>
          <a:bodyPr/>
          <a:p>
            <a:r>
              <a:rPr lang="en-US" altLang="en-US"/>
              <a:t>Hyperparameter Tuning</a:t>
            </a:r>
            <a:endParaRPr lang="en-US" altLang="en-US"/>
          </a:p>
        </p:txBody>
      </p:sp>
      <p:sp>
        <p:nvSpPr>
          <p:cNvPr id="4" name="TextBox 2"/>
          <p:cNvSpPr txBox="1"/>
          <p:nvPr/>
        </p:nvSpPr>
        <p:spPr>
          <a:xfrm>
            <a:off x="548640" y="1636395"/>
            <a:ext cx="3125470" cy="44475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2200"/>
            </a:pPr>
            <a:r>
              <a:rPr lang="en-US" altLang="en-US" b="1"/>
              <a:t>Technique Used</a:t>
            </a:r>
            <a:endParaRPr lang="en-US" altLang="en-US" b="1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/>
              <a:t>GridSearchCV</a:t>
            </a:r>
            <a:endParaRPr lang="en-US" altLang="en-US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 b="1"/>
              <a:t>Optimized Parameters</a:t>
            </a:r>
            <a:endParaRPr lang="en-US" altLang="en-US" b="1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/>
              <a:t>n_estimators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max_depth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min_samples_split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min_samples_leaf</a:t>
            </a:r>
            <a:endParaRPr lang="en-US" altLang="en-US"/>
          </a:p>
          <a:p>
            <a:pPr algn="l">
              <a:defRPr sz="2200"/>
            </a:pPr>
            <a:r>
              <a:rPr lang="en-US" altLang="en-US"/>
              <a:t>max_features</a:t>
            </a:r>
            <a:endParaRPr lang="en-US" altLang="en-US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 b="1"/>
              <a:t>Benefit</a:t>
            </a:r>
            <a:endParaRPr lang="en-US" altLang="en-US" b="1"/>
          </a:p>
          <a:p>
            <a:pPr algn="l">
              <a:defRPr sz="2200"/>
            </a:pPr>
            <a:endParaRPr lang="en-US" altLang="en-US"/>
          </a:p>
          <a:p>
            <a:pPr algn="l">
              <a:defRPr sz="2200"/>
            </a:pPr>
            <a:r>
              <a:rPr lang="en-US" altLang="en-US"/>
              <a:t>Improved Random Forest performance.</a:t>
            </a:r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Model Comparison</a:t>
            </a:r>
            <a:endParaRPr lang="en-US" altLang="en-US"/>
          </a:p>
        </p:txBody>
      </p:sp>
      <p:sp>
        <p:nvSpPr>
          <p:cNvPr id="4" name="TextBox 2"/>
          <p:cNvSpPr txBox="1"/>
          <p:nvPr/>
        </p:nvSpPr>
        <p:spPr>
          <a:xfrm>
            <a:off x="548640" y="1636395"/>
            <a:ext cx="3125470" cy="44475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l">
              <a:defRPr sz="2200"/>
            </a:pPr>
            <a:endParaRPr lang="en-US" altLang="en-US"/>
          </a:p>
        </p:txBody>
      </p:sp>
      <p:graphicFrame>
        <p:nvGraphicFramePr>
          <p:cNvPr id="7" name="Table 6"/>
          <p:cNvGraphicFramePr/>
          <p:nvPr/>
        </p:nvGraphicFramePr>
        <p:xfrm>
          <a:off x="200025" y="1424940"/>
          <a:ext cx="11134725" cy="3973830"/>
        </p:xfrm>
        <a:graphic>
          <a:graphicData uri="http://schemas.openxmlformats.org/drawingml/2006/table">
            <a:tbl>
              <a:tblPr/>
              <a:tblGrid>
                <a:gridCol w="2226945"/>
                <a:gridCol w="2226945"/>
                <a:gridCol w="2226945"/>
                <a:gridCol w="2226945"/>
                <a:gridCol w="2226945"/>
              </a:tblGrid>
              <a:tr h="662305">
                <a:tc>
                  <a:txBody>
                    <a:bodyPr/>
                    <a:p>
                      <a:r>
                        <a:rPr sz="1100"/>
                        <a:t>Model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Accuracy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Precision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Recall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F1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2305">
                <a:tc>
                  <a:txBody>
                    <a:bodyPr/>
                    <a:p>
                      <a:r>
                        <a:rPr sz="1100"/>
                        <a:t>Logistic Regression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77.55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0.37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0.60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0.46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2305">
                <a:tc>
                  <a:txBody>
                    <a:bodyPr/>
                    <a:p>
                      <a:r>
                        <a:rPr sz="1100"/>
                        <a:t>Decision Tree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75.51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0.28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0.34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0.31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2305">
                <a:tc>
                  <a:txBody>
                    <a:bodyPr/>
                    <a:p>
                      <a:r>
                        <a:rPr sz="1100"/>
                        <a:t>Random Forest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82.99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0.43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0.21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0.29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2305">
                <a:tc>
                  <a:txBody>
                    <a:bodyPr/>
                    <a:p>
                      <a:r>
                        <a:rPr sz="1100"/>
                        <a:t>Optimized RF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83.67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0.48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0.23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/>
                        <a:t>0.31</a:t>
                      </a:r>
                      <a:endParaRPr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2305">
                <a:tc>
                  <a:txBody>
                    <a:bodyPr/>
                    <a:p>
                      <a:r>
                        <a:rPr sz="1100" b="1"/>
                        <a:t>XGBoost</a:t>
                      </a:r>
                      <a:endParaRPr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 b="1"/>
                        <a:t>87.41</a:t>
                      </a:r>
                      <a:endParaRPr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 b="1"/>
                        <a:t>0.69</a:t>
                      </a:r>
                      <a:endParaRPr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 b="1"/>
                        <a:t>0.38</a:t>
                      </a:r>
                      <a:endParaRPr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100" b="1"/>
                        <a:t>0.49</a:t>
                      </a:r>
                      <a:endParaRPr sz="11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ROC Curve &amp; Feature Importance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44500" y="1727200"/>
            <a:ext cx="8190230" cy="454977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200" b="1"/>
              <a:t>ROC Curve</a:t>
            </a:r>
            <a:endParaRPr sz="2200" b="1"/>
          </a:p>
          <a:p>
            <a:r>
              <a:rPr sz="1600"/>
              <a:t>Explain: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ROC compares TPR vs FPR.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A higher AUC indicates better model performance.</a:t>
            </a:r>
            <a:endParaRPr sz="1600"/>
          </a:p>
          <a:p>
            <a:pPr indent="0">
              <a:buFont typeface="Arial" panose="020B0604020202020204"/>
              <a:buNone/>
            </a:pPr>
            <a:endParaRPr sz="1600"/>
          </a:p>
          <a:p>
            <a:pPr indent="0">
              <a:buFont typeface="Arial" panose="020B0604020202020204"/>
              <a:buNone/>
            </a:pPr>
            <a:r>
              <a:rPr sz="1600"/>
              <a:t> </a:t>
            </a:r>
            <a:endParaRPr sz="1600"/>
          </a:p>
          <a:p>
            <a:pPr>
              <a:spcAft>
                <a:spcPct val="60000"/>
              </a:spcAft>
            </a:pPr>
            <a:r>
              <a:rPr sz="2200" b="1"/>
              <a:t>Feature Importance</a:t>
            </a:r>
            <a:endParaRPr sz="2200" b="1"/>
          </a:p>
          <a:p>
            <a:r>
              <a:rPr sz="1600"/>
              <a:t>Top Features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OverTime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Research Director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Job Level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Stock Option Level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Job Satisfaction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Streamlit Dashboard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Business Recommendations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21970" y="1466850"/>
            <a:ext cx="8112760" cy="2623185"/>
          </a:xfrm>
          <a:prstGeom prst="rect">
            <a:avLst/>
          </a:prstGeom>
        </p:spPr>
        <p:txBody>
          <a:bodyPr>
            <a:noAutofit/>
          </a:bodyPr>
          <a:p>
            <a:r>
              <a:rPr sz="1600"/>
              <a:t>Reduce excessive overtime.</a:t>
            </a:r>
            <a:endParaRPr sz="1600"/>
          </a:p>
          <a:p>
            <a:r>
              <a:rPr sz="1600"/>
              <a:t> Improve job satisfaction. </a:t>
            </a:r>
            <a:endParaRPr sz="1600"/>
          </a:p>
          <a:p>
            <a:r>
              <a:rPr sz="1600"/>
              <a:t> Provide career growth opportunities. </a:t>
            </a:r>
            <a:endParaRPr sz="1600"/>
          </a:p>
          <a:p>
            <a:r>
              <a:rPr sz="1600"/>
              <a:t> Improve employee engagement. </a:t>
            </a:r>
            <a:endParaRPr sz="1600"/>
          </a:p>
          <a:p>
            <a:r>
              <a:rPr sz="1600"/>
              <a:t> Review compensation strategies.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Business Benefits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09270" y="1399540"/>
            <a:ext cx="8125460" cy="2860675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200" b="1"/>
              <a:t>Benefits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 Better HR decision-making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Reduced attrition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Lower hiring cost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Improved workforce planning</a:t>
            </a:r>
            <a:endParaRPr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Conclusion</a:t>
            </a:r>
            <a:endParaRPr lang="en-US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406400" y="1720850"/>
            <a:ext cx="8228330" cy="4422140"/>
          </a:xfrm>
          <a:prstGeom prst="rect">
            <a:avLst/>
          </a:prstGeom>
        </p:spPr>
        <p:txBody>
          <a:bodyPr>
            <a:noAutofit/>
          </a:bodyPr>
          <a:p>
            <a:pPr>
              <a:spcAft>
                <a:spcPct val="60000"/>
              </a:spcAft>
            </a:pPr>
            <a:r>
              <a:rPr sz="2200" b="1"/>
              <a:t>Conclusion</a:t>
            </a:r>
            <a:endParaRPr sz="2200" b="1"/>
          </a:p>
          <a:p>
            <a:pPr>
              <a:buFont typeface="Arial" panose="020B0604020202020204"/>
              <a:buChar char="•"/>
            </a:pPr>
            <a:r>
              <a:rPr sz="1600"/>
              <a:t> Built an end-to-end ML pipeline.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Compared multiple ML algorithms.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XGBoost achieved the highest accuracy (87.41%).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Successfully deployed using Streamlit. </a:t>
            </a:r>
            <a:endParaRPr sz="1600"/>
          </a:p>
          <a:p>
            <a:pPr>
              <a:buFont typeface="Arial" panose="020B0604020202020204"/>
              <a:buChar char="•"/>
            </a:pPr>
            <a:r>
              <a:rPr sz="1600"/>
              <a:t> Helps HR identify employees at risk and improve retention.</a:t>
            </a:r>
            <a:endParaRPr sz="16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3210" y="3226753"/>
            <a:ext cx="8229600" cy="1143000"/>
          </a:xfrm>
        </p:spPr>
        <p:txBody>
          <a:bodyPr/>
          <a:p>
            <a:r>
              <a:rPr lang="en-US" altLang="en-US"/>
              <a:t>Thank You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2996</Words>
  <Application>WPS Presentation</Application>
  <PresentationFormat>On-screen Show (4:3)</PresentationFormat>
  <Paragraphs>256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Employee Attrition Prediction using Machine Learning</vt:lpstr>
      <vt:lpstr>Business Problem</vt:lpstr>
      <vt:lpstr>Workflow</vt:lpstr>
      <vt:lpstr>Models</vt:lpstr>
      <vt:lpstr>Evaluation</vt:lpstr>
      <vt:lpstr>Results</vt:lpstr>
      <vt:lpstr>Streamlit Dashboard</vt:lpstr>
      <vt:lpstr>Conclusion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ASUS2022</cp:lastModifiedBy>
  <cp:revision>3</cp:revision>
  <dcterms:created xsi:type="dcterms:W3CDTF">2013-01-27T09:14:00Z</dcterms:created>
  <dcterms:modified xsi:type="dcterms:W3CDTF">2026-07-07T04:37:40Z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24E020C87CCC45F2B716BD000455619C_12</vt:lpwstr>
  </property>
  <property fmtid="{D5CDD505-2E9C-101B-9397-08002B2CF9AE}" pid="3" name="KSOProductBuildVer">
    <vt:lpwstr>1033-12.1.0.26880</vt:lpwstr>
  </property>
</Properties>
</file>